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Times New Roman" charset="1" panose="02020603050405020304"/>
      <p:regular r:id="rId16"/>
    </p:embeddedFont>
    <p:embeddedFont>
      <p:font typeface="Arimo" charset="1" panose="020B0604020202020204"/>
      <p:regular r:id="rId17"/>
    </p:embeddedFont>
    <p:embeddedFont>
      <p:font typeface="Arimo Bold" charset="1" panose="020B0704020202020204"/>
      <p:regular r:id="rId18"/>
    </p:embeddedFont>
    <p:embeddedFont>
      <p:font typeface="Alice" charset="1" panose="00000500000000000000"/>
      <p:regular r:id="rId19"/>
    </p:embeddedFont>
    <p:embeddedFont>
      <p:font typeface="Arial Italics" charset="1" panose="020B060402020209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6969" y="4527394"/>
            <a:ext cx="104775" cy="104394"/>
          </a:xfrm>
          <a:custGeom>
            <a:avLst/>
            <a:gdLst/>
            <a:ahLst/>
            <a:cxnLst/>
            <a:rect r="r" b="b" t="t" l="l"/>
            <a:pathLst>
              <a:path h="104394" w="104775">
                <a:moveTo>
                  <a:pt x="0" y="0"/>
                </a:moveTo>
                <a:lnTo>
                  <a:pt x="104775" y="0"/>
                </a:lnTo>
                <a:lnTo>
                  <a:pt x="104775" y="104394"/>
                </a:lnTo>
                <a:lnTo>
                  <a:pt x="0" y="104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6969" y="6222844"/>
            <a:ext cx="104775" cy="104394"/>
          </a:xfrm>
          <a:custGeom>
            <a:avLst/>
            <a:gdLst/>
            <a:ahLst/>
            <a:cxnLst/>
            <a:rect r="r" b="b" t="t" l="l"/>
            <a:pathLst>
              <a:path h="104394" w="104775">
                <a:moveTo>
                  <a:pt x="0" y="0"/>
                </a:moveTo>
                <a:lnTo>
                  <a:pt x="104775" y="0"/>
                </a:lnTo>
                <a:lnTo>
                  <a:pt x="104775" y="104394"/>
                </a:lnTo>
                <a:lnTo>
                  <a:pt x="0" y="104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969" y="7070703"/>
            <a:ext cx="104775" cy="104270"/>
          </a:xfrm>
          <a:custGeom>
            <a:avLst/>
            <a:gdLst/>
            <a:ahLst/>
            <a:cxnLst/>
            <a:rect r="r" b="b" t="t" l="l"/>
            <a:pathLst>
              <a:path h="104270" w="104775">
                <a:moveTo>
                  <a:pt x="0" y="0"/>
                </a:moveTo>
                <a:lnTo>
                  <a:pt x="104775" y="0"/>
                </a:lnTo>
                <a:lnTo>
                  <a:pt x="104775" y="104270"/>
                </a:lnTo>
                <a:lnTo>
                  <a:pt x="0" y="104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414545" y="1560347"/>
            <a:ext cx="3783578" cy="96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16791" y="129178"/>
            <a:ext cx="12347038" cy="116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85310"/>
            <a:ext cx="8060950" cy="158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</a:p>
          <a:p>
            <a:pPr algn="l">
              <a:lnSpc>
                <a:spcPts val="6673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personalized,</a:t>
            </a: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260" y="4819540"/>
            <a:ext cx="7335050" cy="50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complete, and motivating fitness guidance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5260" y="5764207"/>
            <a:ext cx="7633386" cy="242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3"/>
              </a:lnSpc>
            </a:pPr>
            <a:r>
              <a:rPr lang="en-US" sz="296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: </a:t>
            </a:r>
            <a:r>
              <a:rPr lang="en-US" sz="29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Fitness / Healthtech</a:t>
            </a:r>
          </a:p>
          <a:p>
            <a:pPr algn="l">
              <a:lnSpc>
                <a:spcPts val="3558"/>
              </a:lnSpc>
            </a:pPr>
            <a:r>
              <a:rPr lang="en-US" sz="296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Category:  </a:t>
            </a:r>
            <a:r>
              <a:rPr lang="en-US" sz="29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l">
              <a:lnSpc>
                <a:spcPts val="3558"/>
              </a:lnSpc>
            </a:pPr>
          </a:p>
          <a:p>
            <a:pPr algn="l">
              <a:lnSpc>
                <a:spcPts val="3558"/>
              </a:lnSpc>
            </a:pPr>
            <a:r>
              <a:rPr lang="en-US" sz="296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</a:t>
            </a:r>
            <a:r>
              <a:rPr lang="en-US" sz="29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+ chaos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9344" y="7917923"/>
            <a:ext cx="152400" cy="151666"/>
          </a:xfrm>
          <a:custGeom>
            <a:avLst/>
            <a:gdLst/>
            <a:ahLst/>
            <a:cxnLst/>
            <a:rect r="r" b="b" t="t" l="l"/>
            <a:pathLst>
              <a:path h="151666" w="152400">
                <a:moveTo>
                  <a:pt x="0" y="0"/>
                </a:moveTo>
                <a:lnTo>
                  <a:pt x="152400" y="0"/>
                </a:lnTo>
                <a:lnTo>
                  <a:pt x="152400" y="151666"/>
                </a:lnTo>
                <a:lnTo>
                  <a:pt x="0" y="15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7619" cy="754885"/>
            <a:chOff x="0" y="0"/>
            <a:chExt cx="24383492" cy="1006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492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3492">
                  <a:moveTo>
                    <a:pt x="0" y="0"/>
                  </a:moveTo>
                  <a:lnTo>
                    <a:pt x="0" y="1006475"/>
                  </a:lnTo>
                  <a:lnTo>
                    <a:pt x="24383492" y="1006475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10998" y="136769"/>
            <a:ext cx="2042884" cy="2115198"/>
          </a:xfrm>
          <a:custGeom>
            <a:avLst/>
            <a:gdLst/>
            <a:ahLst/>
            <a:cxnLst/>
            <a:rect r="r" b="b" t="t" l="l"/>
            <a:pathLst>
              <a:path h="2115198" w="2042884">
                <a:moveTo>
                  <a:pt x="0" y="0"/>
                </a:moveTo>
                <a:lnTo>
                  <a:pt x="2042884" y="0"/>
                </a:lnTo>
                <a:lnTo>
                  <a:pt x="2042884" y="2115198"/>
                </a:lnTo>
                <a:lnTo>
                  <a:pt x="0" y="211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7" r="0" b="-8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" r="0" b="-4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512633" y="670141"/>
            <a:ext cx="4062517" cy="107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4653" y="9569958"/>
            <a:ext cx="348949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6356" y="9586693"/>
            <a:ext cx="12968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5385" y="587350"/>
            <a:ext cx="1197569" cy="12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7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Control + chaos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3340" y="3185989"/>
            <a:ext cx="11963724" cy="164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4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WORKFIT</a:t>
            </a:r>
          </a:p>
          <a:p>
            <a:pPr algn="ctr">
              <a:lnSpc>
                <a:spcPts val="2879"/>
              </a:lnSpc>
            </a:pPr>
            <a:r>
              <a:rPr lang="en-US" sz="2400" i="true">
                <a:solidFill>
                  <a:srgbClr val="1E1E28"/>
                </a:solidFill>
                <a:latin typeface="Arial Italics"/>
                <a:ea typeface="Arial Italics"/>
                <a:cs typeface="Arial Italics"/>
                <a:sym typeface="Arial Italics"/>
              </a:rPr>
              <a:t>~ AI-Powered Digital Fitness &amp; Indian Nutrition Companion ~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7619" cy="754885"/>
            <a:chOff x="0" y="0"/>
            <a:chExt cx="24383492" cy="1006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492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3492">
                  <a:moveTo>
                    <a:pt x="0" y="0"/>
                  </a:moveTo>
                  <a:lnTo>
                    <a:pt x="0" y="1006475"/>
                  </a:lnTo>
                  <a:lnTo>
                    <a:pt x="24383492" y="1006475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" r="0" b="-4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258" y="-28832"/>
            <a:ext cx="2042884" cy="2116198"/>
          </a:xfrm>
          <a:custGeom>
            <a:avLst/>
            <a:gdLst/>
            <a:ahLst/>
            <a:cxnLst/>
            <a:rect r="r" b="b" t="t" l="l"/>
            <a:pathLst>
              <a:path h="2116198" w="2042884">
                <a:moveTo>
                  <a:pt x="0" y="0"/>
                </a:moveTo>
                <a:lnTo>
                  <a:pt x="2042884" y="0"/>
                </a:lnTo>
                <a:lnTo>
                  <a:pt x="2042884" y="2116198"/>
                </a:lnTo>
                <a:lnTo>
                  <a:pt x="0" y="2116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3" r="0" b="-6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38573" y="189128"/>
            <a:ext cx="8375066" cy="107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4653" y="9569958"/>
            <a:ext cx="348949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6356" y="9586693"/>
            <a:ext cx="12968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160" y="2097148"/>
            <a:ext cx="16884962" cy="620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24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 Multi-Modal AI Perception Pipeline: </a:t>
            </a:r>
            <a:r>
              <a:rPr lang="en-US" sz="2499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Real-time visual analysis for automated meal itemization, portion estimation, and posture biomechanics.</a:t>
            </a:r>
          </a:p>
          <a:p>
            <a:pPr algn="l">
              <a:lnSpc>
                <a:spcPts val="3255"/>
              </a:lnSpc>
            </a:pPr>
            <a:r>
              <a:rPr lang="en-US" sz="27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 Dual Grounded Nutrition Engine: </a:t>
            </a:r>
            <a:r>
              <a:rPr lang="en-US" sz="2713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On-device SQLite FTS5 database (~8,000 foods) integrating USDA &amp; Indian Nutrient Databank (INDB) for authentic desi meals.</a:t>
            </a:r>
          </a:p>
          <a:p>
            <a:pPr algn="l">
              <a:lnSpc>
                <a:spcPts val="3255"/>
              </a:lnSpc>
            </a:pPr>
          </a:p>
          <a:p>
            <a:pPr algn="l">
              <a:lnSpc>
                <a:spcPts val="3255"/>
              </a:lnSpc>
            </a:pPr>
            <a:r>
              <a:rPr lang="en-US" sz="27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 Deterministic Safety &amp; Adaptive Math: </a:t>
            </a:r>
            <a:r>
              <a:rPr lang="en-US" sz="2713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Mifflin-St Jeor &amp; EWMA trend algorithms with hard clinical minimum safety floors (1,200/1,500 kcal) preventing extreme deficits.</a:t>
            </a:r>
          </a:p>
          <a:p>
            <a:pPr algn="l">
              <a:lnSpc>
                <a:spcPts val="3255"/>
              </a:lnSpc>
            </a:pPr>
          </a:p>
          <a:p>
            <a:pPr algn="l">
              <a:lnSpc>
                <a:spcPts val="3255"/>
              </a:lnSpc>
            </a:pPr>
            <a:r>
              <a:rPr lang="en-US" sz="27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 Edge-First Standalone Mobile Architecture: </a:t>
            </a:r>
            <a:r>
              <a:rPr lang="en-US" sz="2713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Offline-first React Native + native Android architecture with local data ownership and private AI gateway connectivity.</a:t>
            </a:r>
          </a:p>
          <a:p>
            <a:pPr algn="l">
              <a:lnSpc>
                <a:spcPts val="3255"/>
              </a:lnSpc>
            </a:pPr>
          </a:p>
          <a:p>
            <a:pPr algn="l">
              <a:lnSpc>
                <a:spcPts val="3255"/>
              </a:lnSpc>
            </a:pPr>
            <a:r>
              <a:rPr lang="en-US" sz="27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 End-to-End User Flow: </a:t>
            </a:r>
            <a:r>
              <a:rPr lang="en-US" sz="2713">
                <a:solidFill>
                  <a:srgbClr val="282832"/>
                </a:solidFill>
                <a:latin typeface="Arial"/>
                <a:ea typeface="Arial"/>
                <a:cs typeface="Arial"/>
                <a:sym typeface="Arial"/>
              </a:rPr>
              <a:t>Onboarding &amp; Goal Anchoring → Computer Vision Body Scan → Multi-modal Food Perception → Adaptive Targets → Streak Reminders.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1636" y="421748"/>
            <a:ext cx="1197569" cy="12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7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Control + chaos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7619" cy="754885"/>
            <a:chOff x="0" y="0"/>
            <a:chExt cx="24383492" cy="1006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492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3492">
                  <a:moveTo>
                    <a:pt x="0" y="0"/>
                  </a:moveTo>
                  <a:lnTo>
                    <a:pt x="0" y="1006475"/>
                  </a:lnTo>
                  <a:lnTo>
                    <a:pt x="24383492" y="1006475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" r="0" b="-4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0679" y="66551"/>
            <a:ext cx="2042884" cy="2115312"/>
          </a:xfrm>
          <a:custGeom>
            <a:avLst/>
            <a:gdLst/>
            <a:ahLst/>
            <a:cxnLst/>
            <a:rect r="r" b="b" t="t" l="l"/>
            <a:pathLst>
              <a:path h="2115312" w="2042884">
                <a:moveTo>
                  <a:pt x="0" y="0"/>
                </a:moveTo>
                <a:lnTo>
                  <a:pt x="2042884" y="0"/>
                </a:lnTo>
                <a:lnTo>
                  <a:pt x="2042884" y="2115312"/>
                </a:lnTo>
                <a:lnTo>
                  <a:pt x="0" y="2115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4" r="0" b="-8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89657" y="189128"/>
            <a:ext cx="10106777" cy="107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483" y="1848488"/>
            <a:ext cx="17340136" cy="754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98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&amp; Viability: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Zero Dedicated Hardware: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Runs directly on standard smartphone cameras; no expensive wearables or DEXA scans required.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Offline-First Core: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Database lookups, calorie calculation, hydration, and workouts run 100% locally on-device without cloud lock-in.</a:t>
            </a:r>
          </a:p>
          <a:p>
            <a:pPr algn="l">
              <a:lnSpc>
                <a:spcPts val="3215"/>
              </a:lnSpc>
            </a:pPr>
          </a:p>
          <a:p>
            <a:pPr algn="l">
              <a:lnSpc>
                <a:spcPts val="3586"/>
              </a:lnSpc>
            </a:pPr>
            <a:r>
              <a:rPr lang="en-US" sz="298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and Risks: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Perception Accuracy: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Estimating portion volume and invisible cooking fats (ghee/oil) in complex Indian dishes.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LLM Hallucination Risk: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Unchecked generative AI suggesting unsafe, non-clinically backed crash diets.</a:t>
            </a:r>
          </a:p>
          <a:p>
            <a:pPr algn="l">
              <a:lnSpc>
                <a:spcPts val="3215"/>
              </a:lnSpc>
            </a:pPr>
          </a:p>
          <a:p>
            <a:pPr algn="l">
              <a:lnSpc>
                <a:spcPts val="3586"/>
              </a:lnSpc>
            </a:pPr>
            <a:r>
              <a:rPr lang="en-US" sz="298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Mitigation &amp; Safety Strategies: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Cooking Fat Assumption Models: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Resolver bias filters and default cooking fat assumption fillers calibrated to Indian food preparation.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Deterministic Safety Guardrails: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Hard-coded clinical minimum calorie floor clamps and validated biomechanical joint angle checks.</a:t>
            </a:r>
          </a:p>
          <a:p>
            <a:pPr algn="l">
              <a:lnSpc>
                <a:spcPts val="3215"/>
              </a:lnSpc>
            </a:pPr>
            <a:r>
              <a:rPr lang="en-US" sz="267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Local Data Ownership: </a:t>
            </a:r>
            <a:r>
              <a:rPr lang="en-US" sz="267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All health, weight, and scan records stored securely on-device with zero mandatory cloud exposure.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6356" y="9586693"/>
            <a:ext cx="12968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3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4653" y="9569958"/>
            <a:ext cx="348949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5057" y="517131"/>
            <a:ext cx="1197569" cy="12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7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Control + chaos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7619" cy="754885"/>
            <a:chOff x="0" y="0"/>
            <a:chExt cx="24383492" cy="1006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492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3492">
                  <a:moveTo>
                    <a:pt x="0" y="0"/>
                  </a:moveTo>
                  <a:lnTo>
                    <a:pt x="0" y="1006475"/>
                  </a:lnTo>
                  <a:lnTo>
                    <a:pt x="24383492" y="1006475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" r="0" b="-4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4781" y="111166"/>
            <a:ext cx="2042884" cy="2116417"/>
          </a:xfrm>
          <a:custGeom>
            <a:avLst/>
            <a:gdLst/>
            <a:ahLst/>
            <a:cxnLst/>
            <a:rect r="r" b="b" t="t" l="l"/>
            <a:pathLst>
              <a:path h="2116417" w="2042884">
                <a:moveTo>
                  <a:pt x="0" y="0"/>
                </a:moveTo>
                <a:lnTo>
                  <a:pt x="2042884" y="0"/>
                </a:lnTo>
                <a:lnTo>
                  <a:pt x="2042884" y="2116417"/>
                </a:lnTo>
                <a:lnTo>
                  <a:pt x="0" y="2116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8" r="0" b="-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43052" y="189128"/>
            <a:ext cx="8161934" cy="107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275" y="1893907"/>
            <a:ext cx="16935430" cy="666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3014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 Impact on Target Audience:</a:t>
            </a:r>
          </a:p>
          <a:p>
            <a:pPr algn="l">
              <a:lnSpc>
                <a:spcPts val="3724"/>
              </a:lnSpc>
            </a:pPr>
            <a:r>
              <a:rPr lang="en-US" sz="3103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Democratizes Fitness &amp; Nutrition: </a:t>
            </a:r>
            <a:r>
              <a:rPr lang="en-US" sz="3103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Provides 24/7 personalized coaching for students, beginners, and professionals who cannot afford costly personal trainers.</a:t>
            </a:r>
          </a:p>
          <a:p>
            <a:pPr algn="l">
              <a:lnSpc>
                <a:spcPts val="3724"/>
              </a:lnSpc>
            </a:pPr>
            <a:r>
              <a:rPr lang="en-US" sz="3103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Engineered for Indian Dietary Patterns: </a:t>
            </a:r>
            <a:r>
              <a:rPr lang="en-US" sz="3103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Solves the national pain point of tracking authentic Indian home-cooked meals, thalis, and regional staple foods.</a:t>
            </a:r>
          </a:p>
          <a:p>
            <a:pPr algn="l">
              <a:lnSpc>
                <a:spcPts val="3724"/>
              </a:lnSpc>
            </a:pPr>
          </a:p>
          <a:p>
            <a:pPr algn="l">
              <a:lnSpc>
                <a:spcPts val="3617"/>
              </a:lnSpc>
            </a:pPr>
            <a:r>
              <a:rPr lang="en-US" sz="3014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Benefits of the Solution:</a:t>
            </a:r>
          </a:p>
          <a:p>
            <a:pPr algn="l">
              <a:lnSpc>
                <a:spcPts val="3724"/>
              </a:lnSpc>
            </a:pPr>
            <a:r>
              <a:rPr lang="en-US" sz="3103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Biomechanical &amp; Musculoskeletal Health: </a:t>
            </a:r>
            <a:r>
              <a:rPr lang="en-US" sz="3103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AI posture scans identify forward head posture, shoulder asymmetry, and pelvic tilt, prescribing targeted corrective routines.</a:t>
            </a:r>
          </a:p>
          <a:p>
            <a:pPr algn="l">
              <a:lnSpc>
                <a:spcPts val="3724"/>
              </a:lnSpc>
            </a:pPr>
            <a:r>
              <a:rPr lang="en-US" sz="3103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Habit Formation &amp; Engagement: </a:t>
            </a:r>
            <a:r>
              <a:rPr lang="en-US" sz="3103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Gamification via streak milestones, hydration tracking, and interactive goal recalibration keeps users consistently motivated.</a:t>
            </a:r>
          </a:p>
          <a:p>
            <a:pPr algn="l">
              <a:lnSpc>
                <a:spcPts val="3724"/>
              </a:lnSpc>
            </a:pPr>
            <a:r>
              <a:rPr lang="en-US" sz="3103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Economic Accessibility: </a:t>
            </a:r>
            <a:r>
              <a:rPr lang="en-US" sz="3103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100% free and open-access edge architecture compared to commercial alternatives charging ₹3,000–₹15,000/year subscription fees.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6356" y="9586693"/>
            <a:ext cx="12968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3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4653" y="9569958"/>
            <a:ext cx="348949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159" y="561746"/>
            <a:ext cx="1197569" cy="12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7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Control + chaos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7619" cy="754885"/>
            <a:chOff x="0" y="0"/>
            <a:chExt cx="24383492" cy="1006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492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3492">
                  <a:moveTo>
                    <a:pt x="0" y="0"/>
                  </a:moveTo>
                  <a:lnTo>
                    <a:pt x="0" y="1006475"/>
                  </a:lnTo>
                  <a:lnTo>
                    <a:pt x="24383492" y="1006475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" r="0" b="-4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258" y="184518"/>
            <a:ext cx="2042884" cy="2116217"/>
          </a:xfrm>
          <a:custGeom>
            <a:avLst/>
            <a:gdLst/>
            <a:ahLst/>
            <a:cxnLst/>
            <a:rect r="r" b="b" t="t" l="l"/>
            <a:pathLst>
              <a:path h="2116217" w="2042884">
                <a:moveTo>
                  <a:pt x="0" y="0"/>
                </a:moveTo>
                <a:lnTo>
                  <a:pt x="2042884" y="0"/>
                </a:lnTo>
                <a:lnTo>
                  <a:pt x="2042884" y="2116217"/>
                </a:lnTo>
                <a:lnTo>
                  <a:pt x="0" y="2116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3" r="0" b="-6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32930" y="189128"/>
            <a:ext cx="10630386" cy="107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364" y="1955124"/>
            <a:ext cx="16412641" cy="72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1"/>
              </a:lnSpc>
            </a:pPr>
            <a:r>
              <a:rPr lang="en-US" sz="28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1) Scientific Foundations &amp; Verified Databanks: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Indian Nutrient Databank (INDB):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Macro &amp; micronutrient dataset for regional Indian recipes (Harvard / Lindsay Jaacks).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USDA FoodData Central (FDC):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Standard Reference and Branded Food database foundation.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Mifflin-St Jeor &amp; EWMA Algorithms: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Clinically validated metabolic rate calculation &amp; Hacker's Diet trend smoothing.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2) Competitor Flaws vs. WorkFit AI Solutions: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Misses Indian / Desi Food: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Competitors fail on regional dishes → WorkFit integrates INDB with regional portion priors.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Hidden Ghee, Oil &amp; Sugar: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Often missed in food photos → WorkFit deploys culinary cooking-fat assumption fillers.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Noisy Weight Spikes &amp; False Precision: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Raw scale fluctuations mislead users → WorkFit uses EWMA trend smoothing.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Hallucinated Crash Diets: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Unsafe AI diet plans → WorkFit enforces deterministic clinical calorie &amp; macro safety clamps.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  • Subscription Paywalls: </a:t>
            </a:r>
            <a:r>
              <a:rPr lang="en-US" sz="2499">
                <a:solidFill>
                  <a:srgbClr val="3C3C46"/>
                </a:solidFill>
                <a:latin typeface="Arial"/>
                <a:ea typeface="Arial"/>
                <a:cs typeface="Arial"/>
                <a:sym typeface="Arial"/>
              </a:rPr>
              <a:t>AI tools locked behind ₹3,000–₹15,000/yr → WorkFit is 100% edge-first &amp; accessible to all.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64653" y="9569958"/>
            <a:ext cx="348949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46356" y="9586693"/>
            <a:ext cx="129683" cy="38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1636" y="635098"/>
            <a:ext cx="1197569" cy="12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7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Control + chaos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DAHS5X7DyTQ</dc:identifier>
  <dcterms:modified xsi:type="dcterms:W3CDTF">2011-08-01T06:04:30Z</dcterms:modified>
  <cp:revision>1</cp:revision>
  <dc:title>WorkFit_SIH2026_Presentation.pptx</dc:title>
</cp:coreProperties>
</file>